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>
            <a:off x="457200" y="304800"/>
            <a:ext cx="8229600" cy="812800"/>
          </a:xfrm>
        </p:spPr>
      </p:sp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>
            <a:off x="457200" y="254000"/>
            <a:ext cx="8229600" cy="889000"/>
          </a:xfrm>
        </p:spPr>
      </p:sp>
      <p:sp>
        <p:nvSpPr>
          <p:cNvPr id="3" name="Body"/>
          <p:cNvSpPr/>
          <p:nvPr>
            <p:ph type="body" idx="1"/>
          </p:nvPr>
        </p:nvSpPr>
        <p:spPr>
          <a:xfrm>
            <a:off x="457200" y="1397000"/>
            <a:ext cx="8229600" cy="3429000"/>
          </a:xfrm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>
        <a:defRPr sz="3600" b="1">
          <a:solidFill>
            <a:schemeClr val="tx2"/>
          </a:solidFill>
        </a:defRPr>
      </a:lvl1pPr>
    </p:titleStyle>
    <p:bodyStyle>
      <a:lvl1pPr>
        <a:buChar char="•"/>
        <a:defRPr sz="2400"/>
      </a:lvl1pPr>
      <a:lvl2pPr>
        <a:buChar char="–"/>
        <a:defRPr sz="2000"/>
      </a:lvl2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chart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 anchor="ctr"/>
          <a:lstStyle/>
          <a:p>
            <a:pPr rtl="1"/>
            <a:r>
              <a:rPr lang="ar-SA"/>
              <a:t>عرض مكتبة ورّاق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914400" y="1905000"/>
            <a:ext cx="7315200" cy="762000"/>
          </a:xfrm>
          <a:prstGeom prst="rect">
            <a:avLst/>
          </a:prstGeom>
        </p:spPr>
        <p:txBody>
          <a:bodyPr/>
          <a:lstStyle/>
          <a:p>
            <a:pPr algn="ctr" rtl="1"/>
            <a:r>
              <a:rPr lang="ar-SA" sz="2000" i="1">
                <a:solidFill>
                  <a:schemeClr val="accent1"/>
                </a:solidFill>
              </a:rPr>
              <a:t>تقرير الربع الثالث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lstStyle/>
          <a:p>
            <a:pPr rtl="1"/>
            <a:r>
              <a:rPr lang="ar-SA"/>
              <a:t>أرقام الربع</a:t>
            </a:r>
          </a:p>
        </p:txBody>
      </p:sp>
      <p:sp>
        <p:nvSpPr>
          <p:cNvPr id="3" name="Body"/>
          <p:cNvSpPr/>
          <p:nvPr>
            <p:ph type="body" idx="1"/>
          </p:nvPr>
        </p:nvSpPr>
        <p:spPr>
          <a:xfrm>
            <a:off x="4826000" y="1397000"/>
            <a:ext cx="3860800" cy="2540000"/>
          </a:xfrm>
        </p:spPr>
        <p:txBody>
          <a:bodyPr/>
          <a:lstStyle/>
          <a:p>
            <a:pPr algn="r" rtl="1"/>
            <a:r>
              <a:rPr lang="ar-SA"/>
              <a:t>ارتفعت المبيعات</a:t>
            </a:r>
          </a:p>
          <a:p>
            <a:pPr algn="r" rtl="1"/>
            <a:r>
              <a:rPr lang="ar-SA" b="1"/>
              <a:t>زاد عدد القراء</a:t>
            </a:r>
          </a:p>
          <a:p>
            <a:pPr lvl="1" algn="r" rtl="1"/>
            <a:r>
              <a:rPr lang="ar-SA"/>
              <a:t>في الرياض وجدة</a:t>
            </a:r>
          </a:p>
        </p:txBody>
      </p:sp>
      <p:sp>
        <p:nvSpPr>
          <p:cNvPr id="4" name="Box"/>
          <p:cNvSpPr/>
          <p:nvPr/>
        </p:nvSpPr>
        <p:spPr>
          <a:xfrm>
            <a:off x="457200" y="4064000"/>
            <a:ext cx="3810000" cy="762000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/>
          <a:p>
            <a:pPr algn="ctr" rtl="1"/>
            <a:r>
              <a:rPr lang="ar-SA" sz="1600">
                <a:solidFill>
                  <a:srgbClr val="FFFFFF"/>
                </a:solidFill>
              </a:rPr>
              <a:t>ملاحظة مهمة</a:t>
            </a:r>
          </a:p>
        </p:txBody>
      </p:sp>
      <p:pic>
        <p:nvPicPr>
          <p:cNvPr id="5" name="Picture"/>
          <p:cNvPicPr/>
          <p:nvPr/>
        </p:nvPicPr>
        <p:blipFill>
          <a:blip r:embed="rId2"/>
          <a:stretch>
            <a:fillRect/>
          </a:stretch>
        </p:blipFill>
        <p:spPr>
          <a:xfrm>
            <a:off x="457200" y="1397000"/>
            <a:ext cx="2032000" cy="1016000"/>
          </a:xfrm>
          <a:prstGeom prst="rect">
            <a:avLst/>
          </a:prstGeom>
        </p:spPr>
      </p:pic>
      <p:graphicFrame>
        <p:nvGraphicFramePr>
          <p:cNvPr id="6" name="Table"/>
          <p:cNvGraphicFramePr/>
          <p:nvPr/>
        </p:nvGraphicFramePr>
        <p:xfrm>
          <a:off x="457200" y="2540000"/>
          <a:ext cx="3810000" cy="1270000"/>
        </p:xfrm>
        <a:graphic>
          <a:graphicData uri="http://schemas.openxmlformats.org/drawingml/2006/table">
            <a:tbl>
              <a:tblPr firstRow="1" rtl="1"/>
              <a:tblGrid>
                <a:gridCol w="1905000"/>
                <a:gridCol w="1905000"/>
              </a:tblGrid>
              <a:tr h="381000">
                <a:tc>
                  <a:txBody>
                    <a:bodyPr/>
                    <a:lstStyle/>
                    <a:p>
                      <a:r>
                        <a:rPr lang="ar-SA" sz="1400"/>
                        <a:t>المدينة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ar-SA" sz="1400"/>
                        <a:t>القراء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ar-SA" sz="1400"/>
                        <a:t>الرياض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1,250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3864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